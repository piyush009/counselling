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2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62" r:id="rId15"/>
    <p:sldId id="264" r:id="rId16"/>
    <p:sldId id="265" r:id="rId17"/>
    <p:sldId id="268" r:id="rId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772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4" y="504333"/>
            <a:ext cx="505460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8311" y="1297609"/>
            <a:ext cx="8027034" cy="2769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286250" cy="5143500"/>
          </a:xfrm>
          <a:custGeom>
            <a:avLst/>
            <a:gdLst/>
            <a:ahLst/>
            <a:cxnLst/>
            <a:rect l="l" t="t" r="r" b="b"/>
            <a:pathLst>
              <a:path w="4286250" h="5143500">
                <a:moveTo>
                  <a:pt x="0" y="5143489"/>
                </a:moveTo>
                <a:lnTo>
                  <a:pt x="4286241" y="5143489"/>
                </a:lnTo>
                <a:lnTo>
                  <a:pt x="4286241" y="0"/>
                </a:lnTo>
                <a:lnTo>
                  <a:pt x="0" y="0"/>
                </a:lnTo>
                <a:lnTo>
                  <a:pt x="0" y="5143489"/>
                </a:lnTo>
                <a:close/>
              </a:path>
            </a:pathLst>
          </a:custGeom>
          <a:solidFill>
            <a:srgbClr val="D8D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11658" y="0"/>
            <a:ext cx="932815" cy="5143500"/>
          </a:xfrm>
          <a:custGeom>
            <a:avLst/>
            <a:gdLst/>
            <a:ahLst/>
            <a:cxnLst/>
            <a:rect l="l" t="t" r="r" b="b"/>
            <a:pathLst>
              <a:path w="932815" h="5143500">
                <a:moveTo>
                  <a:pt x="0" y="5143489"/>
                </a:moveTo>
                <a:lnTo>
                  <a:pt x="932323" y="5143489"/>
                </a:lnTo>
                <a:lnTo>
                  <a:pt x="932323" y="0"/>
                </a:lnTo>
                <a:lnTo>
                  <a:pt x="0" y="0"/>
                </a:lnTo>
                <a:lnTo>
                  <a:pt x="0" y="5143489"/>
                </a:lnTo>
                <a:close/>
              </a:path>
            </a:pathLst>
          </a:custGeom>
          <a:solidFill>
            <a:srgbClr val="D8D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6241" y="3550642"/>
            <a:ext cx="72390" cy="1593215"/>
          </a:xfrm>
          <a:custGeom>
            <a:avLst/>
            <a:gdLst/>
            <a:ahLst/>
            <a:cxnLst/>
            <a:rect l="l" t="t" r="r" b="b"/>
            <a:pathLst>
              <a:path w="72389" h="1593214">
                <a:moveTo>
                  <a:pt x="0" y="1592846"/>
                </a:moveTo>
                <a:lnTo>
                  <a:pt x="72299" y="1592846"/>
                </a:lnTo>
                <a:lnTo>
                  <a:pt x="72299" y="0"/>
                </a:lnTo>
                <a:lnTo>
                  <a:pt x="0" y="0"/>
                </a:lnTo>
                <a:lnTo>
                  <a:pt x="0" y="15928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86241" y="0"/>
            <a:ext cx="72390" cy="1403985"/>
          </a:xfrm>
          <a:custGeom>
            <a:avLst/>
            <a:gdLst/>
            <a:ahLst/>
            <a:cxnLst/>
            <a:rect l="l" t="t" r="r" b="b"/>
            <a:pathLst>
              <a:path w="72389" h="1403985">
                <a:moveTo>
                  <a:pt x="0" y="1403847"/>
                </a:moveTo>
                <a:lnTo>
                  <a:pt x="72299" y="1403847"/>
                </a:lnTo>
                <a:lnTo>
                  <a:pt x="72299" y="0"/>
                </a:lnTo>
                <a:lnTo>
                  <a:pt x="0" y="0"/>
                </a:lnTo>
                <a:lnTo>
                  <a:pt x="0" y="14038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58466" y="3550642"/>
            <a:ext cx="3853815" cy="1593215"/>
          </a:xfrm>
          <a:custGeom>
            <a:avLst/>
            <a:gdLst/>
            <a:ahLst/>
            <a:cxnLst/>
            <a:rect l="l" t="t" r="r" b="b"/>
            <a:pathLst>
              <a:path w="3853815" h="1593214">
                <a:moveTo>
                  <a:pt x="0" y="1592846"/>
                </a:moveTo>
                <a:lnTo>
                  <a:pt x="3853192" y="1592846"/>
                </a:lnTo>
                <a:lnTo>
                  <a:pt x="3853192" y="0"/>
                </a:lnTo>
                <a:lnTo>
                  <a:pt x="0" y="0"/>
                </a:lnTo>
                <a:lnTo>
                  <a:pt x="0" y="1592846"/>
                </a:lnTo>
                <a:close/>
              </a:path>
            </a:pathLst>
          </a:custGeom>
          <a:solidFill>
            <a:srgbClr val="01AED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43374" y="0"/>
            <a:ext cx="8689340" cy="3550920"/>
            <a:chOff x="243374" y="0"/>
            <a:chExt cx="8689340" cy="3550920"/>
          </a:xfrm>
        </p:grpSpPr>
        <p:sp>
          <p:nvSpPr>
            <p:cNvPr id="8" name="object 8"/>
            <p:cNvSpPr/>
            <p:nvPr/>
          </p:nvSpPr>
          <p:spPr>
            <a:xfrm>
              <a:off x="4358466" y="0"/>
              <a:ext cx="3853815" cy="1403985"/>
            </a:xfrm>
            <a:custGeom>
              <a:avLst/>
              <a:gdLst/>
              <a:ahLst/>
              <a:cxnLst/>
              <a:rect l="l" t="t" r="r" b="b"/>
              <a:pathLst>
                <a:path w="3853815" h="1403985">
                  <a:moveTo>
                    <a:pt x="0" y="1403847"/>
                  </a:moveTo>
                  <a:lnTo>
                    <a:pt x="3853192" y="1403847"/>
                  </a:lnTo>
                  <a:lnTo>
                    <a:pt x="3853192" y="0"/>
                  </a:lnTo>
                  <a:lnTo>
                    <a:pt x="0" y="0"/>
                  </a:lnTo>
                  <a:lnTo>
                    <a:pt x="0" y="1403847"/>
                  </a:lnTo>
                  <a:close/>
                </a:path>
              </a:pathLst>
            </a:custGeom>
            <a:solidFill>
              <a:srgbClr val="01A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3374" y="1403847"/>
              <a:ext cx="8689340" cy="2146935"/>
            </a:xfrm>
            <a:custGeom>
              <a:avLst/>
              <a:gdLst/>
              <a:ahLst/>
              <a:cxnLst/>
              <a:rect l="l" t="t" r="r" b="b"/>
              <a:pathLst>
                <a:path w="8689340" h="2146935">
                  <a:moveTo>
                    <a:pt x="8688882" y="2146795"/>
                  </a:moveTo>
                  <a:lnTo>
                    <a:pt x="0" y="2146795"/>
                  </a:lnTo>
                  <a:lnTo>
                    <a:pt x="0" y="0"/>
                  </a:lnTo>
                  <a:lnTo>
                    <a:pt x="8688882" y="0"/>
                  </a:lnTo>
                  <a:lnTo>
                    <a:pt x="8688882" y="21467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16399" y="1481111"/>
            <a:ext cx="8474710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00" b="1" spc="140" dirty="0" smtClean="0">
                <a:latin typeface="Palatino Linotype"/>
                <a:cs typeface="Palatino Linotype"/>
              </a:rPr>
              <a:t> </a:t>
            </a:r>
            <a:r>
              <a:rPr sz="4900" b="1" spc="65" dirty="0">
                <a:latin typeface="Palatino Linotype"/>
                <a:cs typeface="Palatino Linotype"/>
              </a:rPr>
              <a:t>Recruitment</a:t>
            </a:r>
            <a:r>
              <a:rPr sz="4900" b="1" spc="100" dirty="0">
                <a:latin typeface="Palatino Linotype"/>
                <a:cs typeface="Palatino Linotype"/>
              </a:rPr>
              <a:t> </a:t>
            </a:r>
            <a:r>
              <a:rPr sz="4900" b="1" spc="85" dirty="0">
                <a:latin typeface="Palatino Linotype"/>
                <a:cs typeface="Palatino Linotype"/>
              </a:rPr>
              <a:t>Portal</a:t>
            </a:r>
            <a:endParaRPr sz="4900" dirty="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57279" y="2648189"/>
            <a:ext cx="1662430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00" b="1" spc="-25" dirty="0" smtClean="0">
                <a:latin typeface="Palatino Linotype"/>
                <a:cs typeface="Palatino Linotype"/>
              </a:rPr>
              <a:t>(RP</a:t>
            </a:r>
            <a:r>
              <a:rPr sz="4900" b="1" spc="-25" dirty="0">
                <a:latin typeface="Palatino Linotype"/>
                <a:cs typeface="Palatino Linotype"/>
              </a:rPr>
              <a:t>)</a:t>
            </a:r>
            <a:endParaRPr sz="4900" dirty="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3374" y="3550642"/>
            <a:ext cx="4058285" cy="463588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9334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735"/>
              </a:spcBef>
            </a:pPr>
            <a:r>
              <a:rPr sz="2400" b="1" spc="95" dirty="0" smtClean="0">
                <a:solidFill>
                  <a:srgbClr val="FFFFFF"/>
                </a:solidFill>
                <a:latin typeface="Century Gothic"/>
                <a:cs typeface="Century Gothic"/>
              </a:rPr>
              <a:t>June,</a:t>
            </a:r>
            <a:r>
              <a:rPr sz="2400" b="1" spc="20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b="1" spc="140" dirty="0" smtClean="0">
                <a:solidFill>
                  <a:srgbClr val="FFFFFF"/>
                </a:solidFill>
                <a:latin typeface="Century Gothic"/>
                <a:cs typeface="Century Gothic"/>
              </a:rPr>
              <a:t>202</a:t>
            </a:r>
            <a:r>
              <a:rPr lang="en-US" sz="2400" b="1" spc="140" dirty="0" smtClean="0">
                <a:solidFill>
                  <a:srgbClr val="FFFFFF"/>
                </a:solidFill>
                <a:latin typeface="Century Gothic"/>
                <a:cs typeface="Century Gothic"/>
              </a:rPr>
              <a:t>6</a:t>
            </a:r>
            <a:endParaRPr sz="24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4" y="530749"/>
            <a:ext cx="3532504" cy="411480"/>
          </a:xfrm>
          <a:custGeom>
            <a:avLst/>
            <a:gdLst/>
            <a:ahLst/>
            <a:cxnLst/>
            <a:rect l="l" t="t" r="r" b="b"/>
            <a:pathLst>
              <a:path w="3532504" h="411480">
                <a:moveTo>
                  <a:pt x="3532205" y="411479"/>
                </a:moveTo>
                <a:lnTo>
                  <a:pt x="0" y="411479"/>
                </a:lnTo>
                <a:lnTo>
                  <a:pt x="0" y="0"/>
                </a:lnTo>
                <a:lnTo>
                  <a:pt x="3532205" y="0"/>
                </a:lnTo>
                <a:lnTo>
                  <a:pt x="3532205" y="411479"/>
                </a:lnTo>
                <a:close/>
              </a:path>
            </a:pathLst>
          </a:custGeom>
          <a:solidFill>
            <a:srgbClr val="F7E6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35" dirty="0"/>
              <a:t> </a:t>
            </a:r>
            <a:r>
              <a:rPr dirty="0"/>
              <a:t>About</a:t>
            </a:r>
            <a:r>
              <a:rPr spc="-30" dirty="0"/>
              <a:t> </a:t>
            </a:r>
            <a:r>
              <a:rPr dirty="0"/>
              <a:t>Recruitment</a:t>
            </a:r>
            <a:r>
              <a:rPr spc="-30" dirty="0"/>
              <a:t> </a:t>
            </a:r>
            <a:r>
              <a:rPr spc="-10" dirty="0"/>
              <a:t>Portal: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9823" y="1224804"/>
            <a:ext cx="8380730" cy="2567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393065" algn="l"/>
              </a:tabLst>
            </a:pPr>
            <a:r>
              <a:rPr sz="1200" spc="-10" dirty="0">
                <a:latin typeface="Calibri"/>
                <a:cs typeface="Calibri"/>
              </a:rPr>
              <a:t>Pursuant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</a:t>
            </a:r>
            <a:r>
              <a:rPr sz="1200" b="1" spc="-10" dirty="0">
                <a:latin typeface="Calibri"/>
                <a:cs typeface="Calibri"/>
              </a:rPr>
              <a:t>ecruitment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teachers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various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positions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levels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lang="en-US" sz="1200" b="1" spc="-25" dirty="0" smtClean="0">
                <a:latin typeface="Calibri"/>
                <a:cs typeface="Calibri"/>
              </a:rPr>
              <a:t>BTSC .</a:t>
            </a:r>
            <a:r>
              <a:rPr sz="1200" dirty="0" smtClean="0">
                <a:latin typeface="Calibri"/>
                <a:cs typeface="Calibri"/>
              </a:rPr>
              <a:t>A</a:t>
            </a:r>
            <a:r>
              <a:rPr sz="1200" spc="-30" dirty="0" smtClean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software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developed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purpose.</a:t>
            </a:r>
            <a:endParaRPr sz="1200" dirty="0">
              <a:latin typeface="Calibri"/>
              <a:cs typeface="Calibri"/>
            </a:endParaRPr>
          </a:p>
          <a:p>
            <a:pPr marL="393065" indent="-380365">
              <a:lnSpc>
                <a:spcPct val="100000"/>
              </a:lnSpc>
              <a:spcBef>
                <a:spcPts val="1440"/>
              </a:spcBef>
              <a:buFont typeface="MS PGothic"/>
              <a:buChar char="❖"/>
              <a:tabLst>
                <a:tab pos="3930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software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Designed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developed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accordance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with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guidelines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lang="en-US" sz="1200" b="1" spc="-25" dirty="0" smtClean="0">
                <a:latin typeface="Calibri"/>
                <a:cs typeface="Calibri"/>
              </a:rPr>
              <a:t>by BTSC</a:t>
            </a:r>
            <a:r>
              <a:rPr sz="1200" spc="-10" dirty="0" smtClean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  <a:p>
            <a:pPr marL="393065" indent="-380365">
              <a:lnSpc>
                <a:spcPct val="100000"/>
              </a:lnSpc>
              <a:spcBef>
                <a:spcPts val="1440"/>
              </a:spcBef>
              <a:buFont typeface="MS PGothic"/>
              <a:buChar char="❖"/>
              <a:tabLst>
                <a:tab pos="3930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software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capable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to:</a:t>
            </a:r>
            <a:endParaRPr sz="1200" dirty="0">
              <a:latin typeface="Calibri"/>
              <a:cs typeface="Calibri"/>
            </a:endParaRPr>
          </a:p>
          <a:p>
            <a:pPr marL="850265" lvl="1" indent="-381000">
              <a:lnSpc>
                <a:spcPct val="100000"/>
              </a:lnSpc>
              <a:spcBef>
                <a:spcPts val="1440"/>
              </a:spcBef>
              <a:buFont typeface="MS PGothic"/>
              <a:buChar char="➢"/>
              <a:tabLst>
                <a:tab pos="850265" algn="l"/>
              </a:tabLst>
            </a:pPr>
            <a:r>
              <a:rPr sz="1200" b="1" dirty="0">
                <a:latin typeface="Calibri"/>
                <a:cs typeface="Calibri"/>
              </a:rPr>
              <a:t>Receive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applications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recruitment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fee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online</a:t>
            </a:r>
            <a:r>
              <a:rPr sz="1200" spc="-10" dirty="0">
                <a:latin typeface="Calibri"/>
                <a:cs typeface="Calibri"/>
              </a:rPr>
              <a:t>;</a:t>
            </a:r>
            <a:endParaRPr sz="1200" dirty="0">
              <a:latin typeface="Calibri"/>
              <a:cs typeface="Calibri"/>
            </a:endParaRPr>
          </a:p>
          <a:p>
            <a:pPr marL="850265" lvl="1" indent="-381000">
              <a:lnSpc>
                <a:spcPct val="100000"/>
              </a:lnSpc>
              <a:spcBef>
                <a:spcPts val="1440"/>
              </a:spcBef>
              <a:buFont typeface="MS PGothic"/>
              <a:buChar char="➢"/>
              <a:tabLst>
                <a:tab pos="850265" algn="l"/>
              </a:tabLst>
            </a:pPr>
            <a:r>
              <a:rPr sz="1200" b="1" spc="-10" dirty="0">
                <a:latin typeface="Calibri"/>
                <a:cs typeface="Calibri"/>
              </a:rPr>
              <a:t>Scrutinise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application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send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query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applicant,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required;</a:t>
            </a:r>
            <a:endParaRPr sz="1200" dirty="0">
              <a:latin typeface="Calibri"/>
              <a:cs typeface="Calibri"/>
            </a:endParaRPr>
          </a:p>
          <a:p>
            <a:pPr marL="850265" lvl="1" indent="-381000">
              <a:lnSpc>
                <a:spcPct val="100000"/>
              </a:lnSpc>
              <a:spcBef>
                <a:spcPts val="1440"/>
              </a:spcBef>
              <a:buFont typeface="MS PGothic"/>
              <a:buChar char="➢"/>
              <a:tabLst>
                <a:tab pos="850265" algn="l"/>
              </a:tabLst>
            </a:pPr>
            <a:r>
              <a:rPr sz="1200" b="1" dirty="0">
                <a:latin typeface="Calibri"/>
                <a:cs typeface="Calibri"/>
              </a:rPr>
              <a:t>Prepare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merit-</a:t>
            </a:r>
            <a:r>
              <a:rPr sz="1200" b="1" dirty="0">
                <a:latin typeface="Calibri"/>
                <a:cs typeface="Calibri"/>
              </a:rPr>
              <a:t>list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merit-</a:t>
            </a:r>
            <a:r>
              <a:rPr sz="1200" b="1" dirty="0">
                <a:latin typeface="Calibri"/>
                <a:cs typeface="Calibri"/>
              </a:rPr>
              <a:t>marks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accordance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recommendations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district-</a:t>
            </a:r>
            <a:r>
              <a:rPr sz="1200" dirty="0">
                <a:latin typeface="Calibri"/>
                <a:cs typeface="Calibri"/>
              </a:rPr>
              <a:t>level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committee;</a:t>
            </a:r>
            <a:endParaRPr sz="1200" dirty="0">
              <a:latin typeface="Calibri"/>
              <a:cs typeface="Calibri"/>
            </a:endParaRPr>
          </a:p>
          <a:p>
            <a:pPr marL="850265" lvl="1" indent="-381000">
              <a:lnSpc>
                <a:spcPct val="100000"/>
              </a:lnSpc>
              <a:spcBef>
                <a:spcPts val="1440"/>
              </a:spcBef>
              <a:buFont typeface="MS PGothic"/>
              <a:buChar char="➢"/>
              <a:tabLst>
                <a:tab pos="850265" algn="l"/>
              </a:tabLst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Managing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committee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will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able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finalise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district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lists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issue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appointment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letters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candidates;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4" y="530749"/>
            <a:ext cx="4152900" cy="411480"/>
          </a:xfrm>
          <a:custGeom>
            <a:avLst/>
            <a:gdLst/>
            <a:ahLst/>
            <a:cxnLst/>
            <a:rect l="l" t="t" r="r" b="b"/>
            <a:pathLst>
              <a:path w="4152900" h="411480">
                <a:moveTo>
                  <a:pt x="4152510" y="411479"/>
                </a:moveTo>
                <a:lnTo>
                  <a:pt x="0" y="411479"/>
                </a:lnTo>
                <a:lnTo>
                  <a:pt x="0" y="0"/>
                </a:lnTo>
                <a:lnTo>
                  <a:pt x="4152510" y="0"/>
                </a:lnTo>
                <a:lnTo>
                  <a:pt x="4152510" y="411479"/>
                </a:lnTo>
                <a:close/>
              </a:path>
            </a:pathLst>
          </a:custGeom>
          <a:solidFill>
            <a:srgbClr val="F7E6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3A.</a:t>
            </a:r>
            <a:r>
              <a:rPr spc="25" dirty="0"/>
              <a:t> </a:t>
            </a:r>
            <a:r>
              <a:rPr dirty="0"/>
              <a:t>Implementation</a:t>
            </a:r>
            <a:r>
              <a:rPr spc="25" dirty="0"/>
              <a:t> </a:t>
            </a:r>
            <a:r>
              <a:rPr spc="-25" dirty="0"/>
              <a:t>Methodology: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9823" y="1224804"/>
            <a:ext cx="6704330" cy="240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393065" algn="l"/>
              </a:tabLst>
            </a:pPr>
            <a:r>
              <a:rPr sz="1200" dirty="0">
                <a:latin typeface="Calibri"/>
                <a:cs typeface="Calibri"/>
              </a:rPr>
              <a:t>Design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approval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Functional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requirement Specification(FRS)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document;</a:t>
            </a:r>
            <a:endParaRPr sz="1200">
              <a:latin typeface="Calibri"/>
              <a:cs typeface="Calibri"/>
            </a:endParaRPr>
          </a:p>
          <a:p>
            <a:pPr marL="393065" indent="-380365">
              <a:lnSpc>
                <a:spcPct val="100000"/>
              </a:lnSpc>
              <a:spcBef>
                <a:spcPts val="1440"/>
              </a:spcBef>
              <a:buFont typeface="MS PGothic"/>
              <a:buChar char="❖"/>
              <a:tabLst>
                <a:tab pos="393065" algn="l"/>
              </a:tabLst>
            </a:pPr>
            <a:r>
              <a:rPr sz="1200" dirty="0">
                <a:latin typeface="Calibri"/>
                <a:cs typeface="Calibri"/>
              </a:rPr>
              <a:t>Design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approval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process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flow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application;</a:t>
            </a:r>
            <a:endParaRPr sz="1200">
              <a:latin typeface="Calibri"/>
              <a:cs typeface="Calibri"/>
            </a:endParaRPr>
          </a:p>
          <a:p>
            <a:pPr marL="393065" indent="-380365">
              <a:lnSpc>
                <a:spcPct val="100000"/>
              </a:lnSpc>
              <a:spcBef>
                <a:spcPts val="1440"/>
              </a:spcBef>
              <a:buFont typeface="MS PGothic"/>
              <a:buChar char="❖"/>
              <a:tabLst>
                <a:tab pos="393065" algn="l"/>
              </a:tabLst>
            </a:pPr>
            <a:r>
              <a:rPr sz="1200" dirty="0">
                <a:latin typeface="Calibri"/>
                <a:cs typeface="Calibri"/>
              </a:rPr>
              <a:t>Finalisation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fields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validation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Application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form;</a:t>
            </a:r>
            <a:endParaRPr sz="1200">
              <a:latin typeface="Calibri"/>
              <a:cs typeface="Calibri"/>
            </a:endParaRPr>
          </a:p>
          <a:p>
            <a:pPr marL="393065" indent="-380365">
              <a:lnSpc>
                <a:spcPct val="100000"/>
              </a:lnSpc>
              <a:spcBef>
                <a:spcPts val="1440"/>
              </a:spcBef>
              <a:buFont typeface="MS PGothic"/>
              <a:buChar char="❖"/>
              <a:tabLst>
                <a:tab pos="393065" algn="l"/>
              </a:tabLst>
            </a:pPr>
            <a:r>
              <a:rPr sz="1200" spc="-10" dirty="0">
                <a:latin typeface="Calibri"/>
                <a:cs typeface="Calibri"/>
              </a:rPr>
              <a:t>Integration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3rd-</a:t>
            </a:r>
            <a:r>
              <a:rPr sz="1200" dirty="0">
                <a:latin typeface="Calibri"/>
                <a:cs typeface="Calibri"/>
              </a:rPr>
              <a:t>party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Aadhaar,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SMS,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Email,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Payment</a:t>
            </a:r>
            <a:r>
              <a:rPr sz="1200" spc="-25" dirty="0">
                <a:latin typeface="Calibri"/>
                <a:cs typeface="Calibri"/>
              </a:rPr>
              <a:t> gateway,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required.</a:t>
            </a:r>
            <a:endParaRPr sz="1200">
              <a:latin typeface="Calibri"/>
              <a:cs typeface="Calibri"/>
            </a:endParaRPr>
          </a:p>
          <a:p>
            <a:pPr marL="393065" indent="-380365">
              <a:lnSpc>
                <a:spcPct val="100000"/>
              </a:lnSpc>
              <a:spcBef>
                <a:spcPts val="1440"/>
              </a:spcBef>
              <a:buFont typeface="MS PGothic"/>
              <a:buChar char="❖"/>
              <a:tabLst>
                <a:tab pos="393065" algn="l"/>
              </a:tabLst>
            </a:pPr>
            <a:r>
              <a:rPr sz="1200" spc="-45" dirty="0">
                <a:latin typeface="Calibri"/>
                <a:cs typeface="Calibri"/>
              </a:rPr>
              <a:t>UAT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Application </a:t>
            </a:r>
            <a:r>
              <a:rPr sz="1200" dirty="0">
                <a:latin typeface="Calibri"/>
                <a:cs typeface="Calibri"/>
              </a:rPr>
              <a:t>Security</a:t>
            </a:r>
            <a:r>
              <a:rPr sz="1200" spc="-10" dirty="0">
                <a:latin typeface="Calibri"/>
                <a:cs typeface="Calibri"/>
              </a:rPr>
              <a:t> audit;</a:t>
            </a:r>
            <a:endParaRPr sz="1200">
              <a:latin typeface="Calibri"/>
              <a:cs typeface="Calibri"/>
            </a:endParaRPr>
          </a:p>
          <a:p>
            <a:pPr marL="393065" indent="-380365">
              <a:lnSpc>
                <a:spcPct val="100000"/>
              </a:lnSpc>
              <a:spcBef>
                <a:spcPts val="1440"/>
              </a:spcBef>
              <a:buFont typeface="MS PGothic"/>
              <a:buChar char="❖"/>
              <a:tabLst>
                <a:tab pos="393065" algn="l"/>
              </a:tabLst>
            </a:pPr>
            <a:r>
              <a:rPr sz="1200" dirty="0">
                <a:latin typeface="Calibri"/>
                <a:cs typeface="Calibri"/>
              </a:rPr>
              <a:t>Hosting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State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Centre;</a:t>
            </a:r>
            <a:endParaRPr sz="1200">
              <a:latin typeface="Calibri"/>
              <a:cs typeface="Calibri"/>
            </a:endParaRPr>
          </a:p>
          <a:p>
            <a:pPr marL="393065" indent="-380365">
              <a:lnSpc>
                <a:spcPct val="100000"/>
              </a:lnSpc>
              <a:spcBef>
                <a:spcPts val="1440"/>
              </a:spcBef>
              <a:buFont typeface="MS PGothic"/>
              <a:buChar char="❖"/>
              <a:tabLst>
                <a:tab pos="393065" algn="l"/>
              </a:tabLst>
            </a:pPr>
            <a:r>
              <a:rPr sz="1200" dirty="0">
                <a:latin typeface="Calibri"/>
                <a:cs typeface="Calibri"/>
              </a:rPr>
              <a:t>Go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Live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application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4" y="530749"/>
            <a:ext cx="2263140" cy="411480"/>
          </a:xfrm>
          <a:custGeom>
            <a:avLst/>
            <a:gdLst/>
            <a:ahLst/>
            <a:cxnLst/>
            <a:rect l="l" t="t" r="r" b="b"/>
            <a:pathLst>
              <a:path w="2263140" h="411480">
                <a:moveTo>
                  <a:pt x="2262792" y="411479"/>
                </a:moveTo>
                <a:lnTo>
                  <a:pt x="0" y="411479"/>
                </a:lnTo>
                <a:lnTo>
                  <a:pt x="0" y="0"/>
                </a:lnTo>
                <a:lnTo>
                  <a:pt x="2262792" y="0"/>
                </a:lnTo>
                <a:lnTo>
                  <a:pt x="2262792" y="411479"/>
                </a:lnTo>
                <a:close/>
              </a:path>
            </a:pathLst>
          </a:custGeom>
          <a:solidFill>
            <a:srgbClr val="F7E6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3B.</a:t>
            </a:r>
            <a:r>
              <a:rPr spc="-130" dirty="0"/>
              <a:t> </a:t>
            </a:r>
            <a:r>
              <a:rPr spc="-65" dirty="0"/>
              <a:t>Dependencies: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11686" y="1350009"/>
          <a:ext cx="8519158" cy="2800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7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0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005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Sr.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</a:pPr>
                      <a:r>
                        <a:rPr sz="1200" b="1" spc="-25" dirty="0">
                          <a:latin typeface="Calibri"/>
                          <a:cs typeface="Calibri"/>
                        </a:rPr>
                        <a:t>no.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Entity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Purpose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660" marR="194310" indent="14097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Minimum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Expected</a:t>
                      </a:r>
                      <a:r>
                        <a:rPr sz="12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time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1.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Adhaar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authority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Integration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Aadhaar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check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deduplication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week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2.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Bihar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State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Centre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Hosting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Application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week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3.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Auditor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Audit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application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Week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4.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National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Informatics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Centre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1475" indent="-230504">
                        <a:lnSpc>
                          <a:spcPct val="100000"/>
                        </a:lnSpc>
                        <a:spcBef>
                          <a:spcPts val="625"/>
                        </a:spcBef>
                        <a:buAutoNum type="arabicPeriod"/>
                        <a:tabLst>
                          <a:tab pos="37147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Email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SMTP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relay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server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activation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  <a:buFont typeface="Calibri"/>
                        <a:buAutoNum type="arabicPeriod"/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71475" indent="-230504">
                        <a:lnSpc>
                          <a:spcPct val="100000"/>
                        </a:lnSpc>
                        <a:buAutoNum type="arabicPeriod"/>
                        <a:tabLst>
                          <a:tab pos="37147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SMS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gateway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Month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5.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Gateway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receiving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fee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online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Weeks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FFEA03DA-8023-4125-85FB-674D1498305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04333"/>
            <a:ext cx="5676846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1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40FAB451-F801-402F-ADFB-9180E59888F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14280"/>
            <a:ext cx="5406887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5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0838CCBC-2F51-4EB7-941E-D79CE8F972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331899"/>
            <a:ext cx="3062145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474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EE973F29-A2D0-428A-B180-D22DBAC0233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14280"/>
            <a:ext cx="5826455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4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520E214E-44D4-45D1-9DE8-2F6321C4C72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88018"/>
            <a:ext cx="7038250" cy="324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46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83BD10D1-6F6C-45CD-AB70-89D1EFC70CCB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97609"/>
            <a:ext cx="5534727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8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B6E03B5C-61C3-4256-AAA0-E701FE51D8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76934"/>
            <a:ext cx="4296324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544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94BFBE5D-4DC0-4732-BDF3-44EDD4FE229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97609"/>
            <a:ext cx="331216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0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297609"/>
            <a:ext cx="231457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3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4" y="530749"/>
            <a:ext cx="4263390" cy="411480"/>
          </a:xfrm>
          <a:custGeom>
            <a:avLst/>
            <a:gdLst/>
            <a:ahLst/>
            <a:cxnLst/>
            <a:rect l="l" t="t" r="r" b="b"/>
            <a:pathLst>
              <a:path w="4263390" h="411480">
                <a:moveTo>
                  <a:pt x="4262924" y="411479"/>
                </a:moveTo>
                <a:lnTo>
                  <a:pt x="0" y="411479"/>
                </a:lnTo>
                <a:lnTo>
                  <a:pt x="0" y="0"/>
                </a:lnTo>
                <a:lnTo>
                  <a:pt x="4262924" y="0"/>
                </a:lnTo>
                <a:lnTo>
                  <a:pt x="4262924" y="411479"/>
                </a:lnTo>
                <a:close/>
              </a:path>
            </a:pathLst>
          </a:custGeom>
          <a:solidFill>
            <a:srgbClr val="F7E6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3C.</a:t>
            </a:r>
            <a:r>
              <a:rPr spc="-45" dirty="0"/>
              <a:t> </a:t>
            </a:r>
            <a:r>
              <a:rPr spc="-30" dirty="0"/>
              <a:t>High-</a:t>
            </a:r>
            <a:r>
              <a:rPr spc="-20" dirty="0"/>
              <a:t>Level</a:t>
            </a:r>
            <a:r>
              <a:rPr spc="-40" dirty="0"/>
              <a:t> </a:t>
            </a:r>
            <a:r>
              <a:rPr dirty="0"/>
              <a:t>view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application: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533" y="1131822"/>
            <a:ext cx="5596901" cy="38209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4" y="530749"/>
            <a:ext cx="3289935" cy="411480"/>
          </a:xfrm>
          <a:custGeom>
            <a:avLst/>
            <a:gdLst/>
            <a:ahLst/>
            <a:cxnLst/>
            <a:rect l="l" t="t" r="r" b="b"/>
            <a:pathLst>
              <a:path w="3289935" h="411480">
                <a:moveTo>
                  <a:pt x="3289776" y="411479"/>
                </a:moveTo>
                <a:lnTo>
                  <a:pt x="0" y="411479"/>
                </a:lnTo>
                <a:lnTo>
                  <a:pt x="0" y="0"/>
                </a:lnTo>
                <a:lnTo>
                  <a:pt x="3289776" y="0"/>
                </a:lnTo>
                <a:lnTo>
                  <a:pt x="3289776" y="411479"/>
                </a:lnTo>
                <a:close/>
              </a:path>
            </a:pathLst>
          </a:custGeom>
          <a:solidFill>
            <a:srgbClr val="F7E6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3E.</a:t>
            </a:r>
            <a:r>
              <a:rPr spc="-15" dirty="0"/>
              <a:t> </a:t>
            </a:r>
            <a:r>
              <a:rPr spc="-35" dirty="0"/>
              <a:t>Modules</a:t>
            </a:r>
            <a:r>
              <a:rPr spc="-10" dirty="0"/>
              <a:t> </a:t>
            </a:r>
            <a:r>
              <a:rPr dirty="0"/>
              <a:t>in</a:t>
            </a:r>
            <a:r>
              <a:rPr spc="-10" dirty="0"/>
              <a:t> application: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7805" y="956689"/>
            <a:ext cx="8402320" cy="407416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08279" indent="-195580">
              <a:lnSpc>
                <a:spcPct val="100000"/>
              </a:lnSpc>
              <a:spcBef>
                <a:spcPts val="295"/>
              </a:spcBef>
              <a:buFont typeface="Arial"/>
              <a:buChar char="●"/>
              <a:tabLst>
                <a:tab pos="208279" algn="l"/>
              </a:tabLst>
            </a:pPr>
            <a:r>
              <a:rPr sz="1100" b="1" dirty="0">
                <a:latin typeface="Calibri"/>
                <a:cs typeface="Calibri"/>
              </a:rPr>
              <a:t>User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Authentication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handles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registration,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login,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password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management.</a:t>
            </a:r>
            <a:endParaRPr sz="1100">
              <a:latin typeface="Calibri"/>
              <a:cs typeface="Calibri"/>
            </a:endParaRPr>
          </a:p>
          <a:p>
            <a:pPr marL="208279" indent="-195580">
              <a:lnSpc>
                <a:spcPct val="100000"/>
              </a:lnSpc>
              <a:spcBef>
                <a:spcPts val="200"/>
              </a:spcBef>
              <a:buFont typeface="Arial"/>
              <a:buChar char="●"/>
              <a:tabLst>
                <a:tab pos="208279" algn="l"/>
              </a:tabLst>
            </a:pPr>
            <a:r>
              <a:rPr sz="1100" b="1" dirty="0">
                <a:latin typeface="Calibri"/>
                <a:cs typeface="Calibri"/>
              </a:rPr>
              <a:t>Job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Listing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allows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post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job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openings,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including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job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titles,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descriptions,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requirements,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other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relevant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details.</a:t>
            </a:r>
            <a:endParaRPr sz="1100">
              <a:latin typeface="Calibri"/>
              <a:cs typeface="Calibri"/>
            </a:endParaRPr>
          </a:p>
          <a:p>
            <a:pPr marL="207645" marR="14604" indent="-195580">
              <a:lnSpc>
                <a:spcPct val="114999"/>
              </a:lnSpc>
              <a:buFont typeface="Arial"/>
              <a:buChar char="●"/>
              <a:tabLst>
                <a:tab pos="210820" algn="l"/>
              </a:tabLst>
            </a:pPr>
            <a:r>
              <a:rPr sz="1100" b="1" spc="-10" dirty="0">
                <a:latin typeface="Calibri"/>
                <a:cs typeface="Calibri"/>
              </a:rPr>
              <a:t>Application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Form Module</a:t>
            </a:r>
            <a:r>
              <a:rPr sz="1100" dirty="0">
                <a:latin typeface="Calibri"/>
                <a:cs typeface="Calibri"/>
              </a:rPr>
              <a:t>: This module enables candidates to submit their applications, including personal information,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resumes, cover </a:t>
            </a:r>
            <a:r>
              <a:rPr sz="1100" spc="-10" dirty="0">
                <a:latin typeface="Calibri"/>
                <a:cs typeface="Calibri"/>
              </a:rPr>
              <a:t>letters, 	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responses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specific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questions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related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job.</a:t>
            </a:r>
            <a:endParaRPr sz="1100">
              <a:latin typeface="Calibri"/>
              <a:cs typeface="Calibri"/>
            </a:endParaRPr>
          </a:p>
          <a:p>
            <a:pPr marL="207645" marR="8255" indent="-195580">
              <a:lnSpc>
                <a:spcPct val="114999"/>
              </a:lnSpc>
              <a:buFont typeface="Arial"/>
              <a:buChar char="●"/>
              <a:tabLst>
                <a:tab pos="210820" algn="l"/>
              </a:tabLst>
            </a:pPr>
            <a:r>
              <a:rPr sz="1100" b="1" dirty="0">
                <a:latin typeface="Calibri"/>
                <a:cs typeface="Calibri"/>
              </a:rPr>
              <a:t>Admin</a:t>
            </a:r>
            <a:r>
              <a:rPr sz="1100" b="1" spc="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Panel</a:t>
            </a:r>
            <a:r>
              <a:rPr sz="1100" b="1" spc="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provides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administrative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access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manage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various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aspects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recruitment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portal,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roles,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job 	</a:t>
            </a:r>
            <a:r>
              <a:rPr sz="1100" dirty="0">
                <a:latin typeface="Calibri"/>
                <a:cs typeface="Calibri"/>
              </a:rPr>
              <a:t>listings,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applicant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data.</a:t>
            </a:r>
            <a:endParaRPr sz="1100">
              <a:latin typeface="Calibri"/>
              <a:cs typeface="Calibri"/>
            </a:endParaRPr>
          </a:p>
          <a:p>
            <a:pPr marL="207645" marR="10160" indent="-195580">
              <a:lnSpc>
                <a:spcPct val="114999"/>
              </a:lnSpc>
              <a:buFont typeface="Arial"/>
              <a:buChar char="●"/>
              <a:tabLst>
                <a:tab pos="210820" algn="l"/>
              </a:tabLst>
            </a:pPr>
            <a:r>
              <a:rPr sz="1100" b="1" spc="-10" dirty="0">
                <a:latin typeface="Calibri"/>
                <a:cs typeface="Calibri"/>
              </a:rPr>
              <a:t>Application</a:t>
            </a:r>
            <a:r>
              <a:rPr sz="1100" b="1" dirty="0">
                <a:latin typeface="Calibri"/>
                <a:cs typeface="Calibri"/>
              </a:rPr>
              <a:t> Management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Within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admin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panel,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 module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allows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administrators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review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manage received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job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applications.</a:t>
            </a:r>
            <a:r>
              <a:rPr sz="1100" spc="500" dirty="0">
                <a:latin typeface="Calibri"/>
                <a:cs typeface="Calibri"/>
              </a:rPr>
              <a:t> 	</a:t>
            </a:r>
            <a:r>
              <a:rPr sz="1100" dirty="0">
                <a:latin typeface="Calibri"/>
                <a:cs typeface="Calibri"/>
              </a:rPr>
              <a:t>It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should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include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features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filtering,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sorting,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tracking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statuses.</a:t>
            </a:r>
            <a:endParaRPr sz="1100">
              <a:latin typeface="Calibri"/>
              <a:cs typeface="Calibri"/>
            </a:endParaRPr>
          </a:p>
          <a:p>
            <a:pPr marL="207645" marR="22860" indent="-195580">
              <a:lnSpc>
                <a:spcPct val="114999"/>
              </a:lnSpc>
              <a:buFont typeface="Arial"/>
              <a:buChar char="●"/>
              <a:tabLst>
                <a:tab pos="210820" algn="l"/>
              </a:tabLst>
            </a:pPr>
            <a:r>
              <a:rPr sz="1100" b="1" dirty="0">
                <a:latin typeface="Calibri"/>
                <a:cs typeface="Calibri"/>
              </a:rPr>
              <a:t>User</a:t>
            </a:r>
            <a:r>
              <a:rPr sz="1100" b="1" spc="1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Roles</a:t>
            </a:r>
            <a:r>
              <a:rPr sz="1100" b="1" spc="1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and</a:t>
            </a:r>
            <a:r>
              <a:rPr sz="1100" b="1" spc="1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Permissions</a:t>
            </a:r>
            <a:r>
              <a:rPr sz="1100" b="1" spc="1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defines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roles,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administrators,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recruiters,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applicants,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controls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what 	</a:t>
            </a:r>
            <a:r>
              <a:rPr sz="1100" dirty="0">
                <a:latin typeface="Calibri"/>
                <a:cs typeface="Calibri"/>
              </a:rPr>
              <a:t>actions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each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role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perform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within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system.</a:t>
            </a:r>
            <a:endParaRPr sz="1100">
              <a:latin typeface="Calibri"/>
              <a:cs typeface="Calibri"/>
            </a:endParaRPr>
          </a:p>
          <a:p>
            <a:pPr marL="207645" marR="5080" indent="-195580">
              <a:lnSpc>
                <a:spcPct val="114999"/>
              </a:lnSpc>
              <a:buFont typeface="Arial"/>
              <a:buChar char="●"/>
              <a:tabLst>
                <a:tab pos="210820" algn="l"/>
              </a:tabLst>
            </a:pPr>
            <a:r>
              <a:rPr sz="1100" b="1" spc="-10" dirty="0">
                <a:latin typeface="Calibri"/>
                <a:cs typeface="Calibri"/>
              </a:rPr>
              <a:t>Notification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handles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notifications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applicants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recruiters,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notifying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them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updates,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interview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schedules, 	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other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relevant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events.</a:t>
            </a:r>
            <a:endParaRPr sz="1100">
              <a:latin typeface="Calibri"/>
              <a:cs typeface="Calibri"/>
            </a:endParaRPr>
          </a:p>
          <a:p>
            <a:pPr marL="207645" marR="13335" indent="-195580">
              <a:lnSpc>
                <a:spcPct val="114999"/>
              </a:lnSpc>
              <a:buFont typeface="Arial"/>
              <a:buChar char="●"/>
              <a:tabLst>
                <a:tab pos="210820" algn="l"/>
              </a:tabLst>
            </a:pPr>
            <a:r>
              <a:rPr sz="1100" b="1" dirty="0">
                <a:latin typeface="Calibri"/>
                <a:cs typeface="Calibri"/>
              </a:rPr>
              <a:t>Search</a:t>
            </a:r>
            <a:r>
              <a:rPr sz="1100" b="1" spc="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and</a:t>
            </a:r>
            <a:r>
              <a:rPr sz="1100" b="1" spc="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Filter</a:t>
            </a:r>
            <a:r>
              <a:rPr sz="1100" b="1" spc="5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that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helps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users,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including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administrators,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search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filter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job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listings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applications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based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various 	criteria.</a:t>
            </a:r>
            <a:endParaRPr sz="1100">
              <a:latin typeface="Calibri"/>
              <a:cs typeface="Calibri"/>
            </a:endParaRPr>
          </a:p>
          <a:p>
            <a:pPr marL="207645" marR="11430" indent="-195580">
              <a:lnSpc>
                <a:spcPct val="114999"/>
              </a:lnSpc>
              <a:buFont typeface="Arial"/>
              <a:buChar char="●"/>
              <a:tabLst>
                <a:tab pos="210820" algn="l"/>
              </a:tabLst>
            </a:pPr>
            <a:r>
              <a:rPr sz="1100" b="1" spc="-10" dirty="0">
                <a:latin typeface="Calibri"/>
                <a:cs typeface="Calibri"/>
              </a:rPr>
              <a:t>Communication</a:t>
            </a:r>
            <a:r>
              <a:rPr sz="1100" b="1" spc="9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supports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communication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between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applicants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recruiters,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allowing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messages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scheduling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of 	</a:t>
            </a:r>
            <a:r>
              <a:rPr sz="1100" spc="-10" dirty="0">
                <a:latin typeface="Calibri"/>
                <a:cs typeface="Calibri"/>
              </a:rPr>
              <a:t>interviews.</a:t>
            </a:r>
            <a:endParaRPr sz="1100">
              <a:latin typeface="Calibri"/>
              <a:cs typeface="Calibri"/>
            </a:endParaRPr>
          </a:p>
          <a:p>
            <a:pPr marL="207645" marR="6350" indent="-195580">
              <a:lnSpc>
                <a:spcPct val="114999"/>
              </a:lnSpc>
              <a:buFont typeface="Arial"/>
              <a:buChar char="●"/>
              <a:tabLst>
                <a:tab pos="210820" algn="l"/>
              </a:tabLst>
            </a:pPr>
            <a:r>
              <a:rPr sz="1100" b="1" dirty="0">
                <a:latin typeface="Calibri"/>
                <a:cs typeface="Calibri"/>
              </a:rPr>
              <a:t>Reporting</a:t>
            </a:r>
            <a:r>
              <a:rPr sz="1100" b="1" spc="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and</a:t>
            </a:r>
            <a:r>
              <a:rPr sz="1100" b="1" spc="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Analytics</a:t>
            </a:r>
            <a:r>
              <a:rPr sz="1100" b="1" spc="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provides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insights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into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recruitment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process,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including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number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applicants,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job 	</a:t>
            </a:r>
            <a:r>
              <a:rPr sz="1100" dirty="0">
                <a:latin typeface="Calibri"/>
                <a:cs typeface="Calibri"/>
              </a:rPr>
              <a:t>listing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performance,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diversity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metrics.</a:t>
            </a:r>
            <a:endParaRPr sz="1100">
              <a:latin typeface="Calibri"/>
              <a:cs typeface="Calibri"/>
            </a:endParaRPr>
          </a:p>
          <a:p>
            <a:pPr marL="208279" indent="-195580">
              <a:lnSpc>
                <a:spcPct val="100000"/>
              </a:lnSpc>
              <a:spcBef>
                <a:spcPts val="195"/>
              </a:spcBef>
              <a:buFont typeface="Arial"/>
              <a:buChar char="●"/>
              <a:tabLst>
                <a:tab pos="208279" algn="l"/>
              </a:tabLst>
            </a:pPr>
            <a:r>
              <a:rPr sz="1100" b="1" spc="-10" dirty="0">
                <a:latin typeface="Calibri"/>
                <a:cs typeface="Calibri"/>
              </a:rPr>
              <a:t>Integration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want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integrate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external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systems,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management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software,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handles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those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integrations.</a:t>
            </a:r>
            <a:endParaRPr sz="1100">
              <a:latin typeface="Calibri"/>
              <a:cs typeface="Calibri"/>
            </a:endParaRPr>
          </a:p>
          <a:p>
            <a:pPr marL="208279" indent="-195580">
              <a:lnSpc>
                <a:spcPct val="100000"/>
              </a:lnSpc>
              <a:spcBef>
                <a:spcPts val="200"/>
              </a:spcBef>
              <a:buFont typeface="Arial"/>
              <a:buChar char="●"/>
              <a:tabLst>
                <a:tab pos="208279" algn="l"/>
              </a:tabLst>
            </a:pPr>
            <a:r>
              <a:rPr sz="1100" b="1" dirty="0">
                <a:latin typeface="Calibri"/>
                <a:cs typeface="Calibri"/>
              </a:rPr>
              <a:t>File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Management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Manages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storage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retrieval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documents,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resumes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cover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letters,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associated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applications.</a:t>
            </a:r>
            <a:endParaRPr sz="1100">
              <a:latin typeface="Calibri"/>
              <a:cs typeface="Calibri"/>
            </a:endParaRPr>
          </a:p>
          <a:p>
            <a:pPr marL="208279" indent="-195580">
              <a:lnSpc>
                <a:spcPct val="100000"/>
              </a:lnSpc>
              <a:spcBef>
                <a:spcPts val="200"/>
              </a:spcBef>
              <a:buFont typeface="Arial"/>
              <a:buChar char="●"/>
              <a:tabLst>
                <a:tab pos="208279" algn="l"/>
              </a:tabLst>
            </a:pPr>
            <a:r>
              <a:rPr sz="1100" b="1" dirty="0">
                <a:latin typeface="Calibri"/>
                <a:cs typeface="Calibri"/>
              </a:rPr>
              <a:t>Feedback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and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Evaluation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Module</a:t>
            </a:r>
            <a:r>
              <a:rPr sz="1100" dirty="0">
                <a:latin typeface="Calibri"/>
                <a:cs typeface="Calibri"/>
              </a:rPr>
              <a:t>: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allows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feedback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evaluation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applicants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recruiters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hiring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managers.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24" y="530749"/>
            <a:ext cx="2204720" cy="411480"/>
          </a:xfrm>
          <a:custGeom>
            <a:avLst/>
            <a:gdLst/>
            <a:ahLst/>
            <a:cxnLst/>
            <a:rect l="l" t="t" r="r" b="b"/>
            <a:pathLst>
              <a:path w="2204720" h="411480">
                <a:moveTo>
                  <a:pt x="2204156" y="411479"/>
                </a:moveTo>
                <a:lnTo>
                  <a:pt x="0" y="411479"/>
                </a:lnTo>
                <a:lnTo>
                  <a:pt x="0" y="0"/>
                </a:lnTo>
                <a:lnTo>
                  <a:pt x="2204156" y="0"/>
                </a:lnTo>
                <a:lnTo>
                  <a:pt x="2204156" y="411479"/>
                </a:lnTo>
                <a:close/>
              </a:path>
            </a:pathLst>
          </a:custGeom>
          <a:solidFill>
            <a:srgbClr val="F7E6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4" y="504333"/>
            <a:ext cx="22301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65" dirty="0"/>
              <a:t> </a:t>
            </a:r>
            <a:r>
              <a:rPr spc="-10" dirty="0"/>
              <a:t>Delivery</a:t>
            </a:r>
            <a:r>
              <a:rPr spc="-65" dirty="0"/>
              <a:t> </a:t>
            </a:r>
            <a:r>
              <a:rPr spc="-30" dirty="0"/>
              <a:t>Model: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8891" y="1845588"/>
            <a:ext cx="389382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-10" dirty="0">
                <a:latin typeface="Calibri"/>
                <a:cs typeface="Calibri"/>
              </a:rPr>
              <a:t>Web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application-</a:t>
            </a:r>
            <a:r>
              <a:rPr sz="1400" spc="-25" dirty="0">
                <a:latin typeface="Calibri"/>
                <a:cs typeface="Calibri"/>
              </a:rPr>
              <a:t>1,</a:t>
            </a:r>
            <a:endParaRPr sz="1400">
              <a:latin typeface="Calibri"/>
              <a:cs typeface="Calibri"/>
            </a:endParaRPr>
          </a:p>
          <a:p>
            <a:pPr marL="347980" indent="-335280">
              <a:lnSpc>
                <a:spcPct val="100000"/>
              </a:lnSpc>
              <a:spcBef>
                <a:spcPts val="168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-10" dirty="0">
                <a:latin typeface="Calibri"/>
                <a:cs typeface="Calibri"/>
              </a:rPr>
              <a:t>Integrations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3rd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party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services,</a:t>
            </a:r>
            <a:endParaRPr sz="1400">
              <a:latin typeface="Calibri"/>
              <a:cs typeface="Calibri"/>
            </a:endParaRPr>
          </a:p>
          <a:p>
            <a:pPr marL="347980" indent="-335280">
              <a:lnSpc>
                <a:spcPct val="100000"/>
              </a:lnSpc>
              <a:spcBef>
                <a:spcPts val="168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-25" dirty="0">
                <a:latin typeface="Calibri"/>
                <a:cs typeface="Calibri"/>
              </a:rPr>
              <a:t>Role-</a:t>
            </a:r>
            <a:r>
              <a:rPr sz="1400" dirty="0">
                <a:latin typeface="Calibri"/>
                <a:cs typeface="Calibri"/>
              </a:rPr>
              <a:t>based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access,</a:t>
            </a:r>
            <a:endParaRPr sz="1400">
              <a:latin typeface="Calibri"/>
              <a:cs typeface="Calibri"/>
            </a:endParaRPr>
          </a:p>
          <a:p>
            <a:pPr marL="347980" indent="-335280">
              <a:lnSpc>
                <a:spcPct val="100000"/>
              </a:lnSpc>
              <a:spcBef>
                <a:spcPts val="168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-10" dirty="0">
                <a:latin typeface="Calibri"/>
                <a:cs typeface="Calibri"/>
              </a:rPr>
              <a:t>Scalable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model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services,</a:t>
            </a:r>
            <a:endParaRPr sz="1400">
              <a:latin typeface="Calibri"/>
              <a:cs typeface="Calibri"/>
            </a:endParaRPr>
          </a:p>
          <a:p>
            <a:pPr marL="347980" indent="-335280">
              <a:lnSpc>
                <a:spcPct val="100000"/>
              </a:lnSpc>
              <a:spcBef>
                <a:spcPts val="168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Calibri"/>
                <a:cs typeface="Calibri"/>
              </a:rPr>
              <a:t>Secured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Blockchain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Technology,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required.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33630" y="164849"/>
            <a:ext cx="3199130" cy="4370705"/>
            <a:chOff x="5633630" y="164849"/>
            <a:chExt cx="3199130" cy="43707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81560" y="164849"/>
              <a:ext cx="1350722" cy="13507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3630" y="1515584"/>
              <a:ext cx="2828551" cy="30195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6209" y="88649"/>
            <a:ext cx="918473" cy="9184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82191" y="2109973"/>
            <a:ext cx="1379855" cy="457200"/>
          </a:xfrm>
          <a:custGeom>
            <a:avLst/>
            <a:gdLst/>
            <a:ahLst/>
            <a:cxnLst/>
            <a:rect l="l" t="t" r="r" b="b"/>
            <a:pathLst>
              <a:path w="1379854" h="457200">
                <a:moveTo>
                  <a:pt x="1379598" y="457199"/>
                </a:moveTo>
                <a:lnTo>
                  <a:pt x="0" y="457199"/>
                </a:lnTo>
                <a:lnTo>
                  <a:pt x="0" y="0"/>
                </a:lnTo>
                <a:lnTo>
                  <a:pt x="1379598" y="0"/>
                </a:lnTo>
                <a:lnTo>
                  <a:pt x="1379598" y="457199"/>
                </a:lnTo>
                <a:close/>
              </a:path>
            </a:pathLst>
          </a:custGeom>
          <a:solidFill>
            <a:srgbClr val="F7E6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69491" y="2082033"/>
            <a:ext cx="14052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65" dirty="0"/>
              <a:t>Thank</a:t>
            </a:r>
            <a:r>
              <a:rPr sz="3000" spc="-85" dirty="0"/>
              <a:t> </a:t>
            </a:r>
            <a:r>
              <a:rPr sz="3000" spc="-50" dirty="0"/>
              <a:t>you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376</Words>
  <Application>Microsoft Office PowerPoint</Application>
  <PresentationFormat>On-screen Show (16:9)</PresentationFormat>
  <Paragraphs>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MS PGothic</vt:lpstr>
      <vt:lpstr>Arial</vt:lpstr>
      <vt:lpstr>Arial Narrow</vt:lpstr>
      <vt:lpstr>Calibri</vt:lpstr>
      <vt:lpstr>Century Gothic</vt:lpstr>
      <vt:lpstr>Palatino Linotype</vt:lpstr>
      <vt:lpstr>Times New Roman</vt:lpstr>
      <vt:lpstr>Office Theme</vt:lpstr>
      <vt:lpstr> Recruitment Portal</vt:lpstr>
      <vt:lpstr>3. About Recruitment Portal:</vt:lpstr>
      <vt:lpstr>3A. Implementation Methodology:</vt:lpstr>
      <vt:lpstr>3B. Dependencies: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3C. High-Level view of application:</vt:lpstr>
      <vt:lpstr>3E. Modules in application:</vt:lpstr>
      <vt:lpstr>4. Delivery Model: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BSMEB_Teacher recruitment portal</dc:title>
  <dc:creator>hp</dc:creator>
  <cp:lastModifiedBy>hp</cp:lastModifiedBy>
  <cp:revision>2</cp:revision>
  <dcterms:created xsi:type="dcterms:W3CDTF">2026-06-14T15:07:31Z</dcterms:created>
  <dcterms:modified xsi:type="dcterms:W3CDTF">2026-06-14T15:21:34Z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2026-06-14T00:00:00Z</vt:filetime>
  </property>
  <property fmtid="{D5CDD505-2E9C-101B-9397-08002B2CF9AE}" pid="5" name="Producer">
    <vt:lpwstr>3-Heights(TM) PDF Security Shell 4.8.25.2 (http://www.pdf-tools.com)</vt:lpwstr>
  </property>
</Properties>
</file>